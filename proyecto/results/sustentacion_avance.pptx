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64592" cy="3200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AVANCE DE TRABAJO DE GRADO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0972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Modelo predictivo–prescriptivo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para priorizar el backlog del mantenimiento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ADCFC"/>
                </a:solidFill>
                <a:latin typeface="Calibri"/>
              </a:rPr>
              <a:t>MCDA y optimización ligera con criterios de criticidad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Anibal Antonio De Avila Rueda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4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Director: Mg. Juan Carlos Amaya Díaz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Especialización Tecnológica en Automatización Industrial · Universidad Manuela Beltrán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Contexto y motivación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707080"/>
                </a:solidFill>
                <a:latin typeface="Calibri"/>
              </a:rPr>
              <a:t>Programación semanal de mantenimiento bajo recursos limitados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20240"/>
            <a:ext cx="3520440" cy="4206240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210312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Realidad operacional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31089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F40"/>
                </a:solidFill>
                <a:latin typeface="Calibri"/>
              </a:rPr>
              <a:t>El backlog típico oscila entre 20 y 100 órdenes/semana, con horas-hombre, habilidades y repuestos limitados.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20240"/>
            <a:ext cx="3520440" cy="4206240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9160" y="210312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8803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Práctica habitual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383280"/>
            <a:ext cx="31089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F40"/>
                </a:solidFill>
                <a:latin typeface="Calibri"/>
              </a:rPr>
              <a:t>La priorización se resuelve con reglas simples (prioridad nominal y fecha). No maximiza la reducción del riesgo.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920240"/>
            <a:ext cx="3520440" cy="4206240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32520" y="210312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8803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Brecha identificada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383280"/>
            <a:ext cx="31089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F40"/>
                </a:solidFill>
                <a:latin typeface="Calibri"/>
              </a:rPr>
              <a:t>Los CMMS registran y filtran, pero no formulan la decisión: no conectan predicción, valoración multicriterio y optimización.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Avance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Problema y pregunta de investigación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5486400" cy="429768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  <a:latin typeface="Calibri"/>
              </a:rPr>
              <a:t>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12064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 Las reglas tradicionales no garantizan reducir riesgo.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 La probabilidad de falla rara vez se estima de forma calibrada.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 Falta integración entre predicción, valoración (MCDA) y optimización.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 Sin esa cadena, no se puede defender por qué una WO se programa antes que otra.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5669280" cy="429768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Calibri"/>
              </a:rPr>
              <a:t>Pregunta de investigación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06040"/>
            <a:ext cx="530352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1A1F40"/>
                </a:solidFill>
                <a:latin typeface="Calibri"/>
              </a:rPr>
              <a:t>¿Un modelo predictivo–prescriptivo, que predice la probabilidad de falla semanal y prescribe la selección de WO bajo restricciones, mejora la trazabilidad y reduce el riesgo residual frente a las reglas tradicionales por prioridad o fecha?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Avance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Justificación e 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707080"/>
                </a:solidFill>
                <a:latin typeface="Calibri"/>
              </a:rPr>
              <a:t>Alineación con ISO 14224 · ISO 55000 · ISO 31000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874519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74519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5A623"/>
                </a:solidFill>
                <a:latin typeface="Calibri"/>
              </a:rPr>
              <a:t>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0239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Económico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39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F40"/>
                </a:solidFill>
                <a:latin typeface="Calibri"/>
              </a:rPr>
              <a:t>Menor costo por indisponibilidad, mejor uso de horas, evitación de compras urgentes.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2926079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926079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5A623"/>
                </a:solidFill>
                <a:latin typeface="Calibri"/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71799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Social — HSE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28999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F40"/>
                </a:solidFill>
                <a:latin typeface="Calibri"/>
              </a:rPr>
              <a:t>Mayor cobertura de tareas con consecuencias de seguridad; menor exposición a incidentes.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977639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977639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5A623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023359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Ambiental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480559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F40"/>
                </a:solidFill>
                <a:latin typeface="Calibri"/>
              </a:rPr>
              <a:t>Anticipación de WO con riesgo de fuga o emisión; soporte al principio de prevención.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5029198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029198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5A623"/>
                </a:solidFill>
                <a:latin typeface="Calibri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07491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Diferenciador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53211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F40"/>
                </a:solidFill>
                <a:latin typeface="Calibri"/>
              </a:rPr>
              <a:t>Solución abierta y reproducible, con trazabilidad por WO y por restricción activa.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Avance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Objetivos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1384280" cy="12801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Objetivo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Diseñar y evaluar un modelo predictivo–prescriptivo para la priorización de órdenes de trabajo de mantenimiento, que maximice la reducción del riesgo bajo restricciones de capacidad, habilidades y disponibilidad de repuestos.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29184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OE1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6908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>Construir un dataset simulado y reproducible con diccionario de datos.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486400"/>
            <a:ext cx="2194560" cy="365760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486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LISTO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329184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3520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OE2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06908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>Entrenar y calibrar modelos de clasificación (AUC, PR-AUC, Brier).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5486400"/>
            <a:ext cx="2194560" cy="365760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5486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LISTO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29184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520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OE3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06908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>Formular y resolver la selección semanal con restricciones operativas.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5486400"/>
            <a:ext cx="2194560" cy="365760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5486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LISTO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329184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3520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OE4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06908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>Comparar contra reglas tradicionales mediante KPIs operativos.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5486400"/>
            <a:ext cx="2194560" cy="365760"/>
          </a:xfrm>
          <a:prstGeom prst="roundRect">
            <a:avLst>
              <a:gd name="adj" fmla="val 40000"/>
            </a:avLst>
          </a:prstGeom>
          <a:solidFill>
            <a:srgbClr val="E89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5486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EN CURSO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Avance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Marco teórico y referencial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707080"/>
                </a:solidFill>
                <a:latin typeface="Calibri"/>
              </a:rPr>
              <a:t>Cuatro pilares conceptuales y normativos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20240"/>
            <a:ext cx="2743200" cy="14630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10312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Gestión de</a:t>
            </a:r>
          </a:p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activos y riesgo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383280"/>
            <a:ext cx="2743200" cy="27432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38328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ISO 55000</a:t>
            </a:r>
          </a:p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ISO 31000</a:t>
            </a:r>
          </a:p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IEC 31010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920240"/>
            <a:ext cx="2743200" cy="14630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10312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RCM y</a:t>
            </a:r>
          </a:p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confiabilidad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383280"/>
            <a:ext cx="2743200" cy="27432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338328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IEC 60300-3-11</a:t>
            </a:r>
          </a:p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ISO 14224</a:t>
            </a:r>
          </a:p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ISO 20816-3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920240"/>
            <a:ext cx="2743200" cy="14630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10312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Predicción y</a:t>
            </a:r>
          </a:p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calibración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383280"/>
            <a:ext cx="2743200" cy="27432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38328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Lei et al. (2020)</a:t>
            </a:r>
          </a:p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Carvalho (2019)</a:t>
            </a:r>
          </a:p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Kull et al. (2017)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920240"/>
            <a:ext cx="2743200" cy="14630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10312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MCDA y</a:t>
            </a:r>
          </a:p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optimización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3383280"/>
            <a:ext cx="2743200" cy="27432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338328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Greco, Ehrgott</a:t>
            </a:r>
          </a:p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&amp; Figueira (2016)</a:t>
            </a:r>
          </a:p>
          <a:p>
            <a:pPr algn="ctr"/>
            <a:r>
              <a:rPr sz="1300" b="0" i="0">
                <a:solidFill>
                  <a:srgbClr val="1A1F40"/>
                </a:solidFill>
                <a:latin typeface="Calibri"/>
              </a:rPr>
              <a:t>Pinedo (2016)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2636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707080"/>
                </a:solidFill>
                <a:latin typeface="Calibri"/>
              </a:rPr>
              <a:t>RCM define qué importa, ISO indica cómo medir y decidir, ML/MCDA y scheduling traducen a decisión operativa.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Avance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Metodología — 6 fases experimentales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920240"/>
            <a:ext cx="777240" cy="7772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788920"/>
            <a:ext cx="1828800" cy="283464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1645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Diseño</a:t>
            </a:r>
          </a:p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experimental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40"/>
            <a:ext cx="1645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Escenarios y</a:t>
            </a:r>
          </a:p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dataset sintético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166360"/>
            <a:ext cx="1463040" cy="329184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16636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LISTO</a:t>
            </a:r>
          </a:p>
        </p:txBody>
      </p:sp>
      <p:sp>
        <p:nvSpPr>
          <p:cNvPr id="12" name="Oval 11"/>
          <p:cNvSpPr/>
          <p:nvPr/>
        </p:nvSpPr>
        <p:spPr>
          <a:xfrm>
            <a:off x="2898648" y="1920240"/>
            <a:ext cx="777240" cy="7772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192024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95728" y="2788920"/>
            <a:ext cx="1828800" cy="283464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87168" y="2926080"/>
            <a:ext cx="1645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Modelado</a:t>
            </a:r>
          </a:p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predictivo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3749040"/>
            <a:ext cx="1645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RegLog +</a:t>
            </a:r>
          </a:p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calibración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78608" y="5166360"/>
            <a:ext cx="1463040" cy="329184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78608" y="516636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LISTO</a:t>
            </a:r>
          </a:p>
        </p:txBody>
      </p:sp>
      <p:sp>
        <p:nvSpPr>
          <p:cNvPr id="19" name="Oval 18"/>
          <p:cNvSpPr/>
          <p:nvPr/>
        </p:nvSpPr>
        <p:spPr>
          <a:xfrm>
            <a:off x="4882896" y="1920240"/>
            <a:ext cx="777240" cy="7772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82896" y="192024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9976" y="2788920"/>
            <a:ext cx="1828800" cy="283464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1416" y="2926080"/>
            <a:ext cx="1645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Modelado</a:t>
            </a:r>
          </a:p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MCDA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3749040"/>
            <a:ext cx="1645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Pesos y</a:t>
            </a:r>
          </a:p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sensibilidad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62856" y="5166360"/>
            <a:ext cx="1463040" cy="329184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62856" y="516636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LISTO</a:t>
            </a:r>
          </a:p>
        </p:txBody>
      </p:sp>
      <p:sp>
        <p:nvSpPr>
          <p:cNvPr id="26" name="Oval 25"/>
          <p:cNvSpPr/>
          <p:nvPr/>
        </p:nvSpPr>
        <p:spPr>
          <a:xfrm>
            <a:off x="6867144" y="1920240"/>
            <a:ext cx="777240" cy="7772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67144" y="192024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64224" y="2788920"/>
            <a:ext cx="1828800" cy="283464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2926080"/>
            <a:ext cx="1645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Optimización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3749040"/>
            <a:ext cx="1645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Knapsack</a:t>
            </a:r>
          </a:p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multi-restricción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47104" y="5166360"/>
            <a:ext cx="1463040" cy="329184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516636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LISTO</a:t>
            </a:r>
          </a:p>
        </p:txBody>
      </p:sp>
      <p:sp>
        <p:nvSpPr>
          <p:cNvPr id="33" name="Oval 32"/>
          <p:cNvSpPr/>
          <p:nvPr/>
        </p:nvSpPr>
        <p:spPr>
          <a:xfrm>
            <a:off x="8851392" y="1920240"/>
            <a:ext cx="777240" cy="777240"/>
          </a:xfrm>
          <a:prstGeom prst="ellipse">
            <a:avLst/>
          </a:prstGeom>
          <a:solidFill>
            <a:srgbClr val="E89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51392" y="192024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48472" y="2788920"/>
            <a:ext cx="1828800" cy="283464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39912" y="2926080"/>
            <a:ext cx="1645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Evaluación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2" y="3749040"/>
            <a:ext cx="1645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Réplicas y</a:t>
            </a:r>
          </a:p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baseline pareado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31352" y="5166360"/>
            <a:ext cx="1463040" cy="329184"/>
          </a:xfrm>
          <a:prstGeom prst="roundRect">
            <a:avLst>
              <a:gd name="adj" fmla="val 40000"/>
            </a:avLst>
          </a:prstGeom>
          <a:solidFill>
            <a:srgbClr val="E89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31352" y="516636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 CURSO</a:t>
            </a:r>
          </a:p>
        </p:txBody>
      </p:sp>
      <p:sp>
        <p:nvSpPr>
          <p:cNvPr id="40" name="Oval 39"/>
          <p:cNvSpPr/>
          <p:nvPr/>
        </p:nvSpPr>
        <p:spPr>
          <a:xfrm>
            <a:off x="10835640" y="1920240"/>
            <a:ext cx="777240" cy="777240"/>
          </a:xfrm>
          <a:prstGeom prst="ellipse">
            <a:avLst/>
          </a:prstGeom>
          <a:solidFill>
            <a:srgbClr val="B0B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35640" y="192024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20" y="2788920"/>
            <a:ext cx="1828800" cy="283464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24160" y="2926080"/>
            <a:ext cx="1645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Análisis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3749040"/>
            <a:ext cx="1645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Estadística e</a:t>
            </a:r>
          </a:p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interpretabilidad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15600" y="5166360"/>
            <a:ext cx="1463040" cy="329184"/>
          </a:xfrm>
          <a:prstGeom prst="roundRect">
            <a:avLst>
              <a:gd name="adj" fmla="val 40000"/>
            </a:avLst>
          </a:prstGeom>
          <a:solidFill>
            <a:srgbClr val="B0B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0" y="516636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PENDIENTE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2636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707080"/>
                </a:solidFill>
                <a:latin typeface="Calibri"/>
              </a:rPr>
              <a:t>Verde = completado · Ámbar = en curso · Gris = pendiente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Avance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OE1+OE2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Predicción calibrada — completada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707080"/>
                </a:solidFill>
                <a:latin typeface="Calibri"/>
              </a:rPr>
              <a:t>Dataset reproducible (21 variables) + RegLog con calibración isotónica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1031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  <a:latin typeface="Calibri"/>
              </a:rPr>
              <a:t>variables documentadas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874519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1031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150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0175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  <a:latin typeface="Calibri"/>
              </a:rPr>
              <a:t>corridas (5 esc × 30 rep)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74519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1031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0,762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0175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  <a:latin typeface="Calibri"/>
              </a:rPr>
              <a:t>AUC promedio (DE &lt; 0,03)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874519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21031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0,201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0175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  <a:latin typeface="Calibri"/>
              </a:rPr>
              <a:t>Brier — calibración robusta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0233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Pipeline del componente predictivo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43484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1.  Preprocesamiento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alibri"/>
              </a:rPr>
              <a:t>One-hot · z-score · 14 features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172968" y="4983480"/>
            <a:ext cx="164592" cy="36576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37560" y="443484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45720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2.  Reg. logística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50749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alibri"/>
              </a:rPr>
              <a:t>L2 · clases balanceadas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99048" y="4983480"/>
            <a:ext cx="164592" cy="36576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43484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5720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3.  Calibración PAV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0749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alibri"/>
              </a:rPr>
              <a:t>Pool Adjacent Violators · fold independiente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025128" y="4983480"/>
            <a:ext cx="164592" cy="36576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89720" y="443484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45720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4.  Probabilidad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50749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alibri"/>
              </a:rPr>
              <a:t>P(falla 7 días) por WO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Avance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OE3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Optimización — completada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707080"/>
                </a:solidFill>
                <a:latin typeface="Calibri"/>
              </a:rPr>
              <a:t>Knapsack multi-restricción con PuLP / CBC y fallback greedy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5486400" cy="429768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Formulación MILP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Función objetivo: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onsolas"/>
              </a:rPr>
              <a:t>max  Σ  Riesgo_i · x_i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Sujeto 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51206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onsolas"/>
              </a:rPr>
              <a:t>•  Σ duración_i · x_i ≤ H_total</a:t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onsolas"/>
              </a:rPr>
              <a:t>•  Σ_(i en habilidad) duración_i · x_i ≤ H_h</a:t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onsolas"/>
              </a:rPr>
              <a:t>•  Σ_(i requiere r) x_i ≤ on_hand_r</a:t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onsolas"/>
              </a:rPr>
              <a:t>•  x_i = 0 si el repuesto no está disponible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669280" cy="429768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Cumplimiento de restricciones (150 corridas)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2651760"/>
            <a:ext cx="320040" cy="3200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60604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F40"/>
                </a:solidFill>
                <a:latin typeface="Calibri"/>
              </a:rPr>
              <a:t>Cumplimiento ventanas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260604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2E8B57"/>
                </a:solidFill>
                <a:latin typeface="Calibri"/>
              </a:rPr>
              <a:t>100,0 %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3429000"/>
            <a:ext cx="320040" cy="3200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4290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832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F40"/>
                </a:solidFill>
                <a:latin typeface="Calibri"/>
              </a:rPr>
              <a:t>Violaciones de repuestos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33832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2E8B57"/>
                </a:solidFill>
                <a:latin typeface="Calibri"/>
              </a:rPr>
              <a:t>0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4206240"/>
            <a:ext cx="320040" cy="3200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1605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F40"/>
                </a:solidFill>
                <a:latin typeface="Calibri"/>
              </a:rPr>
              <a:t>Capacidad total respetada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41605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2E8B57"/>
                </a:solidFill>
                <a:latin typeface="Calibri"/>
              </a:rPr>
              <a:t>100,0 %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4983480"/>
            <a:ext cx="320040" cy="3200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9834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9377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F40"/>
                </a:solidFill>
                <a:latin typeface="Calibri"/>
              </a:rPr>
              <a:t>Capacidad por habilidad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49377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2E8B57"/>
                </a:solidFill>
                <a:latin typeface="Calibri"/>
              </a:rPr>
              <a:t>100,0 %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Avance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OE2+OE3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Resultados — modelo y optimización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707080"/>
                </a:solidFill>
                <a:latin typeface="Calibri"/>
              </a:rPr>
              <a:t>Promedios sobre 30 réplicas con prueba t pareada (p &lt; 0,001)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28800"/>
            <a:ext cx="11338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Riesgo residual promedio: Modelo vs. 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331720"/>
            <a:ext cx="1133856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331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Baseline (IC95 %)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31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Modelo (IC95 %)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2331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Reducción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23317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p-valor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697480"/>
            <a:ext cx="11338560" cy="39319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97480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F40"/>
                </a:solidFill>
                <a:latin typeface="Calibri"/>
              </a:rPr>
              <a:t>E1 — Recursos nominales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697480"/>
            <a:ext cx="26060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onsolas"/>
              </a:rPr>
              <a:t>9,39 [7,35–11,43]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97480"/>
            <a:ext cx="26060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onsolas"/>
              </a:rPr>
              <a:t>8,28 [6,56–9,99]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697480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E8B57"/>
                </a:solidFill>
                <a:latin typeface="Calibri"/>
              </a:rPr>
              <a:t>9,01 %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2697480"/>
            <a:ext cx="11887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&lt; 0,001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090672"/>
            <a:ext cx="1133856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090672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F40"/>
                </a:solidFill>
                <a:latin typeface="Calibri"/>
              </a:rPr>
              <a:t>E2 — −20 % capacidad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090672"/>
            <a:ext cx="26060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onsolas"/>
              </a:rPr>
              <a:t>10,79 [8,16–13,43]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090672"/>
            <a:ext cx="26060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onsolas"/>
              </a:rPr>
              <a:t>8,97 [6,96–10,98]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090672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E8B57"/>
                </a:solidFill>
                <a:latin typeface="Calibri"/>
              </a:rPr>
              <a:t>12,95 %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1320" y="3090672"/>
            <a:ext cx="11887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&lt; 0,001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483864"/>
            <a:ext cx="11338560" cy="39319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483864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F40"/>
                </a:solidFill>
                <a:latin typeface="Calibri"/>
              </a:rPr>
              <a:t>E3 — Faltante de repuesto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3483864"/>
            <a:ext cx="26060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onsolas"/>
              </a:rPr>
              <a:t>11,93 [9,89–13,97]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483864"/>
            <a:ext cx="26060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onsolas"/>
              </a:rPr>
              <a:t>10,14 [8,47–11,80]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3483864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E8B57"/>
                </a:solidFill>
                <a:latin typeface="Calibri"/>
              </a:rPr>
              <a:t>13,37 %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3483864"/>
            <a:ext cx="11887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&lt; 0,001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877056"/>
            <a:ext cx="1133856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877056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F40"/>
                </a:solidFill>
                <a:latin typeface="Calibri"/>
              </a:rPr>
              <a:t>E4 — Peso seguridad alto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877056"/>
            <a:ext cx="26060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onsolas"/>
              </a:rPr>
              <a:t>8,63 [6,47–10,80]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877056"/>
            <a:ext cx="26060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onsolas"/>
              </a:rPr>
              <a:t>7,06 [5,48–8,65]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3877056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E8B57"/>
                </a:solidFill>
                <a:latin typeface="Calibri"/>
              </a:rPr>
              <a:t>12,39 %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3877056"/>
            <a:ext cx="11887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&lt; 0,001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270248"/>
            <a:ext cx="11338560" cy="39319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270248"/>
            <a:ext cx="31089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F40"/>
                </a:solidFill>
                <a:latin typeface="Calibri"/>
              </a:rPr>
              <a:t>E5 — Mezcla PM/CM 30/70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4270248"/>
            <a:ext cx="26060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onsolas"/>
              </a:rPr>
              <a:t>9,39 [7,48–11,30]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270248"/>
            <a:ext cx="26060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40"/>
                </a:solidFill>
                <a:latin typeface="Consolas"/>
              </a:rPr>
              <a:t>8,07 [6,51–9,62]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4270248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E8B57"/>
                </a:solidFill>
                <a:latin typeface="Calibri"/>
              </a:rPr>
              <a:t>12,14 %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4270248"/>
            <a:ext cx="11887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F40"/>
                </a:solidFill>
                <a:latin typeface="Calibri"/>
              </a:rPr>
              <a:t>&lt; 0,001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48463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707080"/>
                </a:solidFill>
                <a:latin typeface="Calibri"/>
              </a:rPr>
              <a:t>Reducción promedio: 11,97 %  ·  rango individual: 0–41,56 %  ·  diferencia significativa en los 5 escenarios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349240"/>
            <a:ext cx="3520440" cy="9601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44068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+1,9 a +5,3 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8521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WO críticas adicionales programadas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34840" y="5349240"/>
            <a:ext cx="3520440" cy="9601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17720" y="544068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+0,1 a +0,8 pp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7720" y="58521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Mejor utilización de horas-hombre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58200" y="5349240"/>
            <a:ext cx="3520440" cy="9601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41080" y="544068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-6 a -12 %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41080" y="58521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Reducción del lateness ponderado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Avance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Dashboard de resultados y 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707080"/>
                </a:solidFill>
                <a:latin typeface="Calibri"/>
              </a:rPr>
              <a:t>Visualización interactiva + cronograma para OE4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5852160" cy="429768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Dashboard interactivo (HTML)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07080"/>
                </a:solidFill>
                <a:latin typeface="Consolas"/>
              </a:rPr>
              <a:t>dashboard_resultados.html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017520"/>
            <a:ext cx="24688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Calibri"/>
              </a:rPr>
              <a:t>Reducción de riesgo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794760"/>
            <a:ext cx="27432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07080"/>
                </a:solidFill>
                <a:latin typeface="Calibri"/>
              </a:rPr>
              <a:t>E1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3611880"/>
            <a:ext cx="27432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20624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07080"/>
                </a:solidFill>
                <a:latin typeface="Calibri"/>
              </a:rPr>
              <a:t>E2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20" y="3584448"/>
            <a:ext cx="274320" cy="6217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20" y="420624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07080"/>
                </a:solidFill>
                <a:latin typeface="Calibri"/>
              </a:rPr>
              <a:t>E3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3547872"/>
            <a:ext cx="274320" cy="658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1720" y="420624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07080"/>
                </a:solidFill>
                <a:latin typeface="Calibri"/>
              </a:rPr>
              <a:t>E4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3639312"/>
            <a:ext cx="274320" cy="5669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420624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07080"/>
                </a:solidFill>
                <a:latin typeface="Calibri"/>
              </a:rPr>
              <a:t>E5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3017520"/>
            <a:ext cx="24688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30632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Calibri"/>
              </a:rPr>
              <a:t>AUC por escenario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3493008"/>
            <a:ext cx="274320" cy="7132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420624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07080"/>
                </a:solidFill>
                <a:latin typeface="Calibri"/>
              </a:rPr>
              <a:t>E1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3456432"/>
            <a:ext cx="274320" cy="7498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0520" y="420624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07080"/>
                </a:solidFill>
                <a:latin typeface="Calibri"/>
              </a:rPr>
              <a:t>E2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3511296"/>
            <a:ext cx="274320" cy="69494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20624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07080"/>
                </a:solidFill>
                <a:latin typeface="Calibri"/>
              </a:rPr>
              <a:t>E3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20" y="3483864"/>
            <a:ext cx="274320" cy="72237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420624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07080"/>
                </a:solidFill>
                <a:latin typeface="Calibri"/>
              </a:rPr>
              <a:t>E4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3465576"/>
            <a:ext cx="274320" cy="7406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32120" y="420624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07080"/>
                </a:solidFill>
                <a:latin typeface="Calibri"/>
              </a:rPr>
              <a:t>E5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43484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>•  KPIs comparativos en tiempo real (Chart.js)</a:t>
            </a:r>
          </a:p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>•  Tabla con IC95 % y prueba t pareada</a:t>
            </a:r>
          </a:p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>•  Lectura ejecutiva auto-generada</a:t>
            </a:r>
          </a:p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F40"/>
                </a:solidFill>
                <a:latin typeface="Calibri"/>
              </a:rPr>
              <a:t>•  Anexo del informe técnico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1874519"/>
            <a:ext cx="5440680" cy="429768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2011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Pendiente OE4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26060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26060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Análisis estadístico avanzado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29260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Prueba de Wilcoxon como complemento robusto.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474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34747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Sensibilidad de pesos MCDA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37947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Variación ±20 % de pesos y reportar estabilidad.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4343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43434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Comparación con FIFO puro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6634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Segunda referencia más conservadora del baseline.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5212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52120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Documento de resultados final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55321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Integración con working paper y referencias APA.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Avance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Referencias bibliográficas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707080"/>
                </a:solidFill>
                <a:latin typeface="Calibri"/>
              </a:rPr>
              <a:t>Marco normativo, metodológico y estado del arte 2016–2024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28800"/>
            <a:ext cx="5669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F40"/>
                </a:solidFill>
                <a:latin typeface="Calibri"/>
              </a:rPr>
              <a:t>[1] ISO. ISO 14224 — Reliability and maintenance data, 3ª ed., 2016.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828800"/>
            <a:ext cx="5669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F40"/>
                </a:solidFill>
                <a:latin typeface="Calibri"/>
              </a:rPr>
              <a:t>[8] M. Kull, T. Silva Filho, P. Flach. Beta calibration. AISTATS, 2017.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23160"/>
            <a:ext cx="5669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F40"/>
                </a:solidFill>
                <a:latin typeface="Calibri"/>
              </a:rPr>
              <a:t>[2] ISO. ISO 31000 — Risk management: Guidelines, 2018.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423160"/>
            <a:ext cx="5669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F40"/>
                </a:solidFill>
                <a:latin typeface="Calibri"/>
              </a:rPr>
              <a:t>[9] T. Carvalho et al. ML methods applied to predictive maintenance. CIE 137, 2019.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17520"/>
            <a:ext cx="5669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F40"/>
                </a:solidFill>
                <a:latin typeface="Calibri"/>
              </a:rPr>
              <a:t>[3] ISO. ISO 55002 — Asset management: Guidelines for ISO 55001, 2018.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017520"/>
            <a:ext cx="5669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F40"/>
                </a:solidFill>
                <a:latin typeface="Calibri"/>
              </a:rPr>
              <a:t>[10] Y. Lei et al. ML for fault diagnosis and prognosis: A survey. MSSP 138, 2020.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611880"/>
            <a:ext cx="5669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F40"/>
                </a:solidFill>
                <a:latin typeface="Calibri"/>
              </a:rPr>
              <a:t>[4] IEC. IEC 31010 — Risk assessment techniques, 2019.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611880"/>
            <a:ext cx="5669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F40"/>
                </a:solidFill>
                <a:latin typeface="Calibri"/>
              </a:rPr>
              <a:t>[11] N. H. Wahab et al. Predictive maintenance and digital twin: review. PeerJ CS, 2024.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06240"/>
            <a:ext cx="5669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F40"/>
                </a:solidFill>
                <a:latin typeface="Calibri"/>
              </a:rPr>
              <a:t>[5] IEC. IEC 60300-3-11 — Reliability-Centred Maintenance, 2017.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06240"/>
            <a:ext cx="5669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F40"/>
                </a:solidFill>
                <a:latin typeface="Calibri"/>
              </a:rPr>
              <a:t>[12] T. Zonta et al. Predictive maintenance in Industry 4.0: SLR. CIE 150, 2020.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800600"/>
            <a:ext cx="5669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F40"/>
                </a:solidFill>
                <a:latin typeface="Calibri"/>
              </a:rPr>
              <a:t>[6] M. Pinedo. Scheduling: Theory, Algorithms, and Systems, 5ª ed. Springer, 2016.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800600"/>
            <a:ext cx="5669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F40"/>
                </a:solidFill>
                <a:latin typeface="Calibri"/>
              </a:rPr>
              <a:t>[13] A. Dereci et al. Explainable AI for predictive maintenance. JIII, 2024.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394960"/>
            <a:ext cx="5669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F40"/>
                </a:solidFill>
                <a:latin typeface="Calibri"/>
              </a:rPr>
              <a:t>[7] S. Greco, M. Ehrgott, J. Figueira (Eds.). MCDA: State of the Art Surveys, 2ª ed. Springer, 2016.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394960"/>
            <a:ext cx="5669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F40"/>
                </a:solidFill>
                <a:latin typeface="Calibri"/>
              </a:rPr>
              <a:t>[14] S. Maataoui et al. Predictive maintenance and production scheduling. JISE, 2024.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Modelo predictivo–prescriptivo para priorizar el backlog de mantenimiento  |  Avance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