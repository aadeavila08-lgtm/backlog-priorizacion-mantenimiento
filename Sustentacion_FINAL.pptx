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64592" cy="3383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TRABAJO DE GRADO — SUSTENTACIÓN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09728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Modelo predictivo–prescriptivo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para priorizar el backlog del mantenimiento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MCDA y optimización ligera con criterios de criticidad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Anibal Antonio De Avila Rueda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Especialización Tecnológica en Automatización Industrial · Universidad Manuela Beltrán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Resumen 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Lo que el trabajo aporta en una mirada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12 %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Reducción media del riesgo residual
frente al baseline (rango 9–13 %)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92024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21945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0,762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461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AUC del componente predictivo
calibrado (5 escenarios)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2024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945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461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Cumplimiento de restricciones operativas
en 150 corridas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92024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21945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p &lt; 0,001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2461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Significancia estadística en los
5 escenarios (t pareada)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663440"/>
            <a:ext cx="11338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1A1F40"/>
                </a:solidFill>
                <a:latin typeface="Calibri"/>
              </a:rPr>
              <a:t>Tres componentes integrados — predicción calibrada, valoración multicriterio (MCDA) y optimización ligera (knapsack multi-restricción) — sobre 5 escenarios × 30 réplicas = 150 corridas.</a:t>
            </a:r>
          </a:p>
          <a:p>
            <a:pPr algn="ctr"/>
            <a:endParaRPr sz="1400" b="0" i="1">
              <a:solidFill>
                <a:srgbClr val="1A1F40"/>
              </a:solidFill>
              <a:latin typeface="Calibri"/>
            </a:endParaRPr>
          </a:p>
          <a:p>
            <a:pPr algn="ctr"/>
            <a:r>
              <a:rPr sz="1400" b="0" i="1">
                <a:solidFill>
                  <a:srgbClr val="1A1F40"/>
                </a:solidFill>
                <a:latin typeface="Calibri"/>
              </a:rPr>
              <a:t>El modelo cierra la brecha de trazabilidad y auditabilidad de la decisión semanal, y se entrega como paquete reproducible con dashboard interactivo.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Problema y pregunta de investigación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5486400" cy="42976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Calibri"/>
              </a:rP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Las reglas tradicionales no garantizan la máxima reducción del riesgo.</a:t>
            </a:r>
          </a:p>
          <a:p>
            <a:pPr algn="l"/>
            <a:endParaRPr sz="1400" b="0" i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La probabilidad de falla rara vez se estima de forma calibrada.</a:t>
            </a:r>
          </a:p>
          <a:p>
            <a:pPr algn="l"/>
            <a:endParaRPr sz="1400" b="0" i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Predicción, MCDA y optimización no suelen estar integradas.</a:t>
            </a:r>
          </a:p>
          <a:p>
            <a:pPr algn="l"/>
            <a:endParaRPr sz="1400" b="0" i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Sin trazabilidad, no se puede defender la decisión ante auditoría.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669280" cy="429768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Pregunta de investigación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06040"/>
            <a:ext cx="530352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1A1F40"/>
                </a:solidFill>
                <a:latin typeface="Calibri"/>
              </a:rPr>
              <a:t>¿Un modelo predictivo–prescriptivo, que predice la probabilidad de falla semanal y prescribe la selección de WO bajo restricciones, mejora la trazabilidad y reduce el riesgo residual del backlog frente a las reglas tradicionales por prioridad o fecha?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Objetivos del trabajo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1384280" cy="12801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Diseñar y evaluar un modelo predictivo–prescriptivo para la priorización de órdenes de trabajo de mantenimiento, que maximice la reducción del riesgo bajo restricciones de capacidad, habilidades y disponibilidad de repuestos, validando su desempeño frente a reglas tradicionales.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29184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OE1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Construir un dataset simulado y reproducible con diccionario de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486400"/>
            <a:ext cx="2194560" cy="365760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CUMPLIDO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29184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3520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OE2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06908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Entrenar y calibrar modelos de clasificación (AUC, PR-AUC, Brier).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5486400"/>
            <a:ext cx="2194560" cy="365760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5486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CUMPLIDO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29184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OE3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06908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Formular y resolver la selección semanal con restricciones operativas.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5486400"/>
            <a:ext cx="2194560" cy="365760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5486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CUMPLIDO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29184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3520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OE4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06908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Comparar contra reglas tradicionales mediante KPIs operativos.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5486400"/>
            <a:ext cx="2194560" cy="365760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5486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CUMPLIDO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Metodología — 6 fases experimentales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Diseño</a:t>
            </a:r>
          </a:p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experimental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4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Escenarios y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dataset sintético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16636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CUMPLIDA</a:t>
            </a:r>
          </a:p>
        </p:txBody>
      </p:sp>
      <p:sp>
        <p:nvSpPr>
          <p:cNvPr id="12" name="Oval 11"/>
          <p:cNvSpPr/>
          <p:nvPr/>
        </p:nvSpPr>
        <p:spPr>
          <a:xfrm>
            <a:off x="2898648" y="19202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98648" y="1920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5728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87168" y="292608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Modelado</a:t>
            </a:r>
          </a:p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predictivo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74904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RegLog +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calibración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78608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78608" y="516636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CUMPLIDA</a:t>
            </a:r>
          </a:p>
        </p:txBody>
      </p:sp>
      <p:sp>
        <p:nvSpPr>
          <p:cNvPr id="19" name="Oval 18"/>
          <p:cNvSpPr/>
          <p:nvPr/>
        </p:nvSpPr>
        <p:spPr>
          <a:xfrm>
            <a:off x="4882896" y="19202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82896" y="1920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71416" y="292608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Modelado</a:t>
            </a:r>
          </a:p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MCDA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74904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Pesos y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sensibilidad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2856" y="516636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CUMPLIDA</a:t>
            </a:r>
          </a:p>
        </p:txBody>
      </p:sp>
      <p:sp>
        <p:nvSpPr>
          <p:cNvPr id="26" name="Oval 25"/>
          <p:cNvSpPr/>
          <p:nvPr/>
        </p:nvSpPr>
        <p:spPr>
          <a:xfrm>
            <a:off x="6867144" y="19202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67144" y="1920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4224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55664" y="292608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Optimización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374904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Knapsack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multi-restricción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47104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7104" y="516636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CUMPLIDA</a:t>
            </a:r>
          </a:p>
        </p:txBody>
      </p:sp>
      <p:sp>
        <p:nvSpPr>
          <p:cNvPr id="33" name="Oval 32"/>
          <p:cNvSpPr/>
          <p:nvPr/>
        </p:nvSpPr>
        <p:spPr>
          <a:xfrm>
            <a:off x="8851392" y="19202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51392" y="1920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48472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39912" y="292608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Evaluación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374904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Réplicas y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baseline pareado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31352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31352" y="516636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CUMPLIDA</a:t>
            </a:r>
          </a:p>
        </p:txBody>
      </p:sp>
      <p:sp>
        <p:nvSpPr>
          <p:cNvPr id="40" name="Oval 39"/>
          <p:cNvSpPr/>
          <p:nvPr/>
        </p:nvSpPr>
        <p:spPr>
          <a:xfrm>
            <a:off x="10835640" y="19202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835640" y="1920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24160" y="292608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Análisis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374904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Estadística e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interpretabilidad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0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15600" y="516636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CUMPLIDA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26364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1">
                <a:solidFill>
                  <a:srgbClr val="2E8B57"/>
                </a:solidFill>
                <a:latin typeface="Calibri"/>
              </a:rPr>
              <a:t>Las 6 fases del diseño experimental se completaron con éxito.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Marco teórico y referencial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Cuatro pilares conceptuales y normativos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Gestión de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activos y riesgo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38328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38328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ISO 55000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ISO 31000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IEC 31010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2024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210312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RCM y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confiabilidad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38328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338328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IEC 60300-3-11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ISO 14224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ISO 20816-3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2024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10312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Predicción y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calibración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8328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38328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Lei et al. (2020)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Carvalho (2019)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Kull et al. (2017)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92024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210312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MCDA y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optimización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38328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338328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Greco, Ehrgott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&amp; Figueira (2016)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Pinedo (2016)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26364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707080"/>
                </a:solidFill>
                <a:latin typeface="Calibri"/>
              </a:rPr>
              <a:t>RCM define qué importa, ISO indica cómo medir y decidir, ML/MCDA y scheduling traducen a decisión operativa.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Pipeline de tres etapas integradas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Predicción → Valoración multicriterio → Optimización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A623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Predicción
calibrada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RegLog + L2
PAV (Pool Adjacent Violators)
P(falla 7 días) por WO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7367" y="3291840"/>
            <a:ext cx="182880" cy="54864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51960" y="192024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A623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MCDA
explicable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84048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Riesgo = 0,5·Prob +
0,3·Severidad + 0,2·Costo
Pesos con sensibilidad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27847" y="3291840"/>
            <a:ext cx="182880" cy="54864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92440" y="192024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14884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Optimización
ligera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4048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Knapsack multi-restricción
PuLP/CBC o greedy
Capacidad · Habilidad · Repuestos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1">
                <a:solidFill>
                  <a:srgbClr val="1E2761"/>
                </a:solidFill>
                <a:latin typeface="Calibri"/>
              </a:rPr>
              <a:t>Toda la cadena es trazable WO por WO y restricción por restricción: auditable, reproducible y portable.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OE1+OE2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Dataset reproducible + Modelo predictivo calibrado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150 corridas (5 esc. × 30 rep.) — AUC = 0,762  ·  Brier = 0,201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2743200" cy="1920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variables documentadas
en diccionario formal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74519"/>
            <a:ext cx="2743200" cy="1920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210312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0175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corridas reproducibles
(5 esc × 30 réplicas)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2743200" cy="192024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0,762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0175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AUC promedio
(DE &lt; 0,03)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874519"/>
            <a:ext cx="2743200" cy="1920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210312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0,201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0175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Brier — calibración
robusta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02336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Variables más explicativas (coeficientes estandarizados):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434840"/>
            <a:ext cx="2194560" cy="640080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44348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uso_acumulado_pct  ·  0,53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4434840"/>
            <a:ext cx="2194560" cy="640080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97480" y="44348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pm_vencidos  ·  0,50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4434840"/>
            <a:ext cx="2194560" cy="640080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83480" y="44348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criticidad  ·  0,50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4434840"/>
            <a:ext cx="2194560" cy="640080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44348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edad_equipo_anios  ·  0,34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4434840"/>
            <a:ext cx="2194560" cy="640080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55480" y="44348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sev_produccion  ·  0,31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349240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707080"/>
                </a:solidFill>
                <a:latin typeface="Calibri"/>
              </a:rPr>
              <a:t>Las variables ganadoras —uso, PM vencidos, criticidad— coinciden con lo esperado bajo el marco RCM (IEC 60300-3-11), lo que valida la coherencia física del modelo.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Optimización del plan semanal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Knapsack multi-restricción con PuLP/CBC + heurística greedy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5486400" cy="42976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Formulación MILP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Función objetivo: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onsolas"/>
              </a:rPr>
              <a:t>max  Σ  Riesgo_i · x_i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Sujeto 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1206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>•  Σ duración_i · x_i ≤ H_total</a:t>
            </a:r>
          </a:p>
          <a:p>
            <a:pPr algn="l"/>
            <a:endParaRPr sz="1200" b="0" i="0">
              <a:solidFill>
                <a:srgbClr val="CADCFC"/>
              </a:solidFill>
              <a:latin typeface="Consolas"/>
            </a:endParaRPr>
          </a:p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>•  Σ_(habilidad h) duración_i · x_i ≤ H_h</a:t>
            </a:r>
          </a:p>
          <a:p>
            <a:pPr algn="l"/>
            <a:endParaRPr sz="1200" b="0" i="0">
              <a:solidFill>
                <a:srgbClr val="CADCFC"/>
              </a:solidFill>
              <a:latin typeface="Consolas"/>
            </a:endParaRPr>
          </a:p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>•  Σ_(requiere r) x_i ≤ on_hand_r</a:t>
            </a:r>
          </a:p>
          <a:p>
            <a:pPr algn="l"/>
            <a:endParaRPr sz="1200" b="0" i="0">
              <a:solidFill>
                <a:srgbClr val="CADCFC"/>
              </a:solidFill>
              <a:latin typeface="Consolas"/>
            </a:endParaRPr>
          </a:p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>•  x_i = 0 si el repuesto no está disponible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669280" cy="429768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Cumplimiento de restricciones (150 corridas)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651760"/>
            <a:ext cx="320040" cy="3200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0604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Cumplimiento de ventanas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26060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2E8B57"/>
                </a:solidFill>
                <a:latin typeface="Calibri"/>
              </a:rPr>
              <a:t>100,0 %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3429000"/>
            <a:ext cx="320040" cy="3200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4290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832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Violaciones de repuestos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3832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2E8B57"/>
                </a:solidFill>
                <a:latin typeface="Calibri"/>
              </a:rPr>
              <a:t>0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206240"/>
            <a:ext cx="320040" cy="3200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605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Capacidad total respetada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41605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2E8B57"/>
                </a:solidFill>
                <a:latin typeface="Calibri"/>
              </a:rPr>
              <a:t>100,0 %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983480"/>
            <a:ext cx="320040" cy="3200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9834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377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Capacidad por habilidad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9377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2E8B57"/>
                </a:solidFill>
                <a:latin typeface="Calibri"/>
              </a:rPr>
              <a:t>100,0 %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Resultados — Modelo vs.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Riesgo residual: Modelo reduce significativamente (p &lt; 0,001 en los 5 escenarios)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0"/>
            <a:ext cx="11338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Riesgo residual promedio con IC 95 %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331720"/>
            <a:ext cx="1133856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331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Baseline (IC95 %)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31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Modelo (IC95 %)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3317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Reducción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23317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p-valor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97480"/>
            <a:ext cx="11338560" cy="39319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31089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40"/>
                </a:solidFill>
                <a:latin typeface="Calibri"/>
              </a:rPr>
              <a:t>E1 — Recursos nominales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97480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9,39 [7,35–11,43]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8,28 [6,56–9,99]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697480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Calibri"/>
              </a:rPr>
              <a:t>9,01 %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2697480"/>
            <a:ext cx="11887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&lt; 0,001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90672"/>
            <a:ext cx="113385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090672"/>
            <a:ext cx="31089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40"/>
                </a:solidFill>
                <a:latin typeface="Calibri"/>
              </a:rPr>
              <a:t>E2 — −20 % capacidad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090672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10,79 [8,16–13,43]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90672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8,97 [6,96–10,98]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090672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Calibri"/>
              </a:rPr>
              <a:t>12,95 %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3090672"/>
            <a:ext cx="11887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&lt; 0,001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83864"/>
            <a:ext cx="11338560" cy="39319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483864"/>
            <a:ext cx="31089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40"/>
                </a:solidFill>
                <a:latin typeface="Calibri"/>
              </a:rPr>
              <a:t>E3 — Faltante de repuesto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483864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11,93 [9,89–13,97]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83864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10,14 [8,47–11,80]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483864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Calibri"/>
              </a:rPr>
              <a:t>13,37 %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3483864"/>
            <a:ext cx="11887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&lt; 0,001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877056"/>
            <a:ext cx="113385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877056"/>
            <a:ext cx="31089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40"/>
                </a:solidFill>
                <a:latin typeface="Calibri"/>
              </a:rPr>
              <a:t>E4 — Peso seguridad alto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77056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8,63 [6,47–10,80]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877056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7,06 [5,48–8,65]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877056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Calibri"/>
              </a:rPr>
              <a:t>12,39 %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3877056"/>
            <a:ext cx="11887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&lt; 0,001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270248"/>
            <a:ext cx="11338560" cy="39319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270248"/>
            <a:ext cx="31089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40"/>
                </a:solidFill>
                <a:latin typeface="Calibri"/>
              </a:rPr>
              <a:t>E5 — Mezcla PM/CM 30/70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270248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9,39 [7,48–11,30]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270248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8,07 [6,51–9,62]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4270248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Calibri"/>
              </a:rPr>
              <a:t>12,14 %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4270248"/>
            <a:ext cx="11887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&lt; 0,001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75488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707080"/>
                </a:solidFill>
                <a:latin typeface="Calibri"/>
              </a:rPr>
              <a:t>Reducción promedio: 11,97 %  ·  rango individual: 0–41,56 %  ·  diferencia significativa en los 5 escenarios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257800"/>
            <a:ext cx="3520440" cy="100584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536752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+1,9 a +5,3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779007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WO críticas adicionales programadas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5257800"/>
            <a:ext cx="3520440" cy="100584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17720" y="536752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≈ 0 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5779007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Diferencia de utilización (igual eficiencia)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58200" y="5257800"/>
            <a:ext cx="3520440" cy="100584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41080" y="536752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-6 % a -12 %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41080" y="5779007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Reducción del lateness ponderado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Magnitud de la reducción del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Modelo vs. Baseline por escenario</a:t>
            </a:r>
          </a:p>
        </p:txBody>
      </p:sp>
      <p:pic>
        <p:nvPicPr>
          <p:cNvPr id="6" name="Picture 5" descr="barras_reduccion_ries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4653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7375" y="6263102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 dirty="0">
                <a:solidFill>
                  <a:srgbClr val="707080"/>
                </a:solidFill>
                <a:latin typeface="Calibri"/>
              </a:rPr>
              <a:t>Mayor </a:t>
            </a:r>
            <a:r>
              <a:rPr sz="1400" b="0" i="1" dirty="0" err="1">
                <a:solidFill>
                  <a:srgbClr val="707080"/>
                </a:solidFill>
                <a:latin typeface="Calibri"/>
              </a:rPr>
              <a:t>ganancia</a:t>
            </a:r>
            <a:r>
              <a:rPr sz="1400" b="0" i="1" dirty="0">
                <a:solidFill>
                  <a:srgbClr val="70708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707080"/>
                </a:solidFill>
                <a:latin typeface="Calibri"/>
              </a:rPr>
              <a:t>donde</a:t>
            </a:r>
            <a:r>
              <a:rPr sz="1400" b="0" i="1" dirty="0">
                <a:solidFill>
                  <a:srgbClr val="70708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707080"/>
                </a:solidFill>
                <a:latin typeface="Calibri"/>
              </a:rPr>
              <a:t>más</a:t>
            </a:r>
            <a:r>
              <a:rPr sz="1400" b="0" i="1" dirty="0">
                <a:solidFill>
                  <a:srgbClr val="707080"/>
                </a:solidFill>
                <a:latin typeface="Calibri"/>
              </a:rPr>
              <a:t> se </a:t>
            </a:r>
            <a:r>
              <a:rPr sz="1400" b="0" i="1" dirty="0" err="1">
                <a:solidFill>
                  <a:srgbClr val="707080"/>
                </a:solidFill>
                <a:latin typeface="Calibri"/>
              </a:rPr>
              <a:t>necesita</a:t>
            </a:r>
            <a:r>
              <a:rPr sz="1400" b="0" i="1" dirty="0">
                <a:solidFill>
                  <a:srgbClr val="707080"/>
                </a:solidFill>
                <a:latin typeface="Calibri"/>
              </a:rPr>
              <a:t>: </a:t>
            </a:r>
            <a:r>
              <a:rPr sz="1400" b="0" i="1" dirty="0" err="1">
                <a:solidFill>
                  <a:srgbClr val="707080"/>
                </a:solidFill>
                <a:latin typeface="Calibri"/>
              </a:rPr>
              <a:t>escenarios</a:t>
            </a:r>
            <a:r>
              <a:rPr sz="1400" b="0" i="1" dirty="0">
                <a:solidFill>
                  <a:srgbClr val="70708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707080"/>
                </a:solidFill>
                <a:latin typeface="Calibri"/>
              </a:rPr>
              <a:t>estresados</a:t>
            </a:r>
            <a:r>
              <a:rPr sz="1400" b="0" i="1" dirty="0">
                <a:solidFill>
                  <a:srgbClr val="707080"/>
                </a:solidFill>
                <a:latin typeface="Calibri"/>
              </a:rPr>
              <a:t> (E2, E3, E4) </a:t>
            </a:r>
            <a:r>
              <a:rPr sz="1400" b="0" i="1" dirty="0" err="1">
                <a:solidFill>
                  <a:srgbClr val="707080"/>
                </a:solidFill>
                <a:latin typeface="Calibri"/>
              </a:rPr>
              <a:t>obtienen</a:t>
            </a:r>
            <a:r>
              <a:rPr sz="1400" b="0" i="1" dirty="0">
                <a:solidFill>
                  <a:srgbClr val="70708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707080"/>
                </a:solidFill>
                <a:latin typeface="Calibri"/>
              </a:rPr>
              <a:t>mayores</a:t>
            </a:r>
            <a:r>
              <a:rPr sz="1400" b="0" i="1" dirty="0">
                <a:solidFill>
                  <a:srgbClr val="70708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707080"/>
                </a:solidFill>
                <a:latin typeface="Calibri"/>
              </a:rPr>
              <a:t>reducciones</a:t>
            </a:r>
            <a:r>
              <a:rPr sz="1400" b="0" i="1" dirty="0">
                <a:solidFill>
                  <a:srgbClr val="707080"/>
                </a:solidFill>
                <a:latin typeface="Calibri"/>
              </a:rPr>
              <a:t> del </a:t>
            </a:r>
            <a:r>
              <a:rPr sz="1400" b="0" i="1" dirty="0" err="1">
                <a:solidFill>
                  <a:srgbClr val="707080"/>
                </a:solidFill>
                <a:latin typeface="Calibri"/>
              </a:rPr>
              <a:t>riesgo</a:t>
            </a:r>
            <a:r>
              <a:rPr sz="1400" b="0" i="1" dirty="0">
                <a:solidFill>
                  <a:srgbClr val="707080"/>
                </a:solidFill>
                <a:latin typeface="Calibri"/>
              </a:rPr>
              <a:t> residual.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Dashboard interactivo de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Anexo B — archivo HTML autocontenido, sin instalación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6400800" cy="429768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onsolas"/>
              </a:rPr>
              <a:t>dashboard_resultados.html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3464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Reducción de riesgo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703320"/>
            <a:ext cx="32004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08760" y="3520440"/>
            <a:ext cx="32004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0" y="3493008"/>
            <a:ext cx="320040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14600" y="3456432"/>
            <a:ext cx="320040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17520" y="3547872"/>
            <a:ext cx="32004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94760" y="283464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760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AUC por escenario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401568"/>
            <a:ext cx="320040" cy="7132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26280" y="3364992"/>
            <a:ext cx="320040" cy="7498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3419856"/>
            <a:ext cx="320040" cy="69494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32120" y="3392424"/>
            <a:ext cx="320040" cy="7223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3374136"/>
            <a:ext cx="320040" cy="7406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•  KPIs globales (4 tarjetas: reducción, AUC, ventanas, repuestos)</a:t>
            </a:r>
          </a:p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•  Gráficas comparativas Chart.js (riesgo, críticas, util., lateness)</a:t>
            </a:r>
          </a:p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•  Tabla con IC95 % y prueba t pareada por escenario</a:t>
            </a:r>
          </a:p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•  Lectura ejecutiva auto-generada en lenguaje claro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874519"/>
            <a:ext cx="4846320" cy="42976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78040" y="201168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Para qué sirve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606040"/>
            <a:ext cx="438912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Comunicar resultados sin instalar nada.</a:t>
            </a:r>
          </a:p>
          <a:p>
            <a:pPr algn="l"/>
            <a:endParaRPr sz="120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Soportar la rendición de cuentas y auditoría.</a:t>
            </a:r>
          </a:p>
          <a:p>
            <a:pPr algn="l"/>
            <a:endParaRPr sz="120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Compartir un anexo profesional con el lector.</a:t>
            </a:r>
          </a:p>
          <a:p>
            <a:pPr algn="l"/>
            <a:endParaRPr sz="120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Reproducir resultados a partir del CSV.</a:t>
            </a:r>
          </a:p>
          <a:p>
            <a:pPr algn="l"/>
            <a:endParaRPr sz="120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Regenerable con un solo comando.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Conclusiones principales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87451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874519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Reducción significativa del riesgo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5999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p &lt; 0,001 en los 5 escenarios. Reducciones medias entre 9 % y 13 %, picos hasta 41 %.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97179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971799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7179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Modelo predictivo robusto y calibrado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79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AUC = 0,762 estable (DE &lt; 0,03 entre escenarios). Calibración isotónica garantiza probabilidades fiables.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406907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069079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6907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Optimización con restricciones reales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59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Cumplimiento del 100 % en ventanas, capacidad y repuestos. Trazabilidad WO por WO.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5166358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166358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6635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Brecha del problema cerrada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7783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Pipeline reproducible que integra predicción, MCDA y optimización, con dashboard de seguimiento.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Limitaciones y trabajo futuro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5486400" cy="429768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Limitaciones reconocidas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•  Datos sintéticos: validez externa por validar.</a:t>
            </a:r>
          </a:p>
          <a:p>
            <a:pPr algn="l"/>
            <a:endParaRPr sz="1300" b="0" i="0">
              <a:solidFill>
                <a:srgbClr val="1A1F40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•  Duraciones determinísticas (sin variabilidad estocástica).</a:t>
            </a:r>
          </a:p>
          <a:p>
            <a:pPr algn="l"/>
            <a:endParaRPr sz="1300" b="0" i="0">
              <a:solidFill>
                <a:srgbClr val="1A1F40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•  Horizonte semanal independiente (no rolante).</a:t>
            </a:r>
          </a:p>
          <a:p>
            <a:pPr algn="l"/>
            <a:endParaRPr sz="1300" b="0" i="0">
              <a:solidFill>
                <a:srgbClr val="1A1F40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•  Política de inventarios fija.</a:t>
            </a:r>
          </a:p>
          <a:p>
            <a:pPr algn="l"/>
            <a:endParaRPr sz="1300" b="0" i="0">
              <a:solidFill>
                <a:srgbClr val="1A1F40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•  Componente predictivo lineal (no se probó GBM).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74519"/>
            <a:ext cx="5669280" cy="42976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Trabajo futuro recomendado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06040"/>
            <a:ext cx="53035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 Validación con datos reales de un CMMS.</a:t>
            </a:r>
          </a:p>
          <a:p>
            <a:pPr algn="l"/>
            <a:endParaRPr sz="130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 Planificación rolante multi-semana.</a:t>
            </a:r>
          </a:p>
          <a:p>
            <a:pPr algn="l"/>
            <a:endParaRPr sz="130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 Costo económico explícito en el MCDA.</a:t>
            </a:r>
          </a:p>
          <a:p>
            <a:pPr algn="l"/>
            <a:endParaRPr sz="130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 Comparación con XGBoost / LightGBM + Optuna.</a:t>
            </a:r>
          </a:p>
          <a:p>
            <a:pPr algn="l"/>
            <a:endParaRPr sz="130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 Despliegue piloto asistido en planta (3-6 meses).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Sustentación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64592" cy="2377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Modelo predictivo–prescriptivo</a:t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para priorizar el backlog del mantenimiento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Referencias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Kull, M., Silva Filho, T., &amp; Flach, P. (2017). Beta calibration. AISTATS.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42816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Pinedo, M. (2016). Scheduling: Theory, Algorithms, and Systems. Springer.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5371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Greco, S., Ehrgott, M., &amp; Figueira, J. R. (Eds.). (2016). Multiple Criteria Decision Analysis. Springer.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6460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Lei, Y. et al. (2020). Machine learning for fault diagnosis and prognosis. MSSP, 138.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75504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Carvalho, T. et al. (2019). Systematic literature review of ML in predictive maintenance. CIE, 137.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 ISO 14224 (2016) · ISO 31000 (2018) · ISO 55002 (2018) · IEC 60300-3-11 (2017).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1723</Words>
  <Application>Microsoft Office PowerPoint</Application>
  <PresentationFormat>Panorámica</PresentationFormat>
  <Paragraphs>303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Anibal Antonio De avila rueda</cp:lastModifiedBy>
  <cp:revision>2</cp:revision>
  <dcterms:created xsi:type="dcterms:W3CDTF">2013-01-27T09:14:16Z</dcterms:created>
  <dcterms:modified xsi:type="dcterms:W3CDTF">2026-05-31T21:09:47Z</dcterms:modified>
  <cp:category/>
</cp:coreProperties>
</file>